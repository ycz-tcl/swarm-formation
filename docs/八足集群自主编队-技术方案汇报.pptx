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9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github.com/ZJU-FAST-Lab/Swarm-Formation" TargetMode="External"/><Relationship Id="rId3" Type="http://schemas.openxmlformats.org/officeDocument/2006/relationships/hyperlink" Target="https://www.bilibili.com/video/BV1qv41137Si" TargetMode="External"/><Relationship Id="rId2" Type="http://schemas.openxmlformats.org/officeDocument/2006/relationships/hyperlink" Target="https://arxiv.org/abs/2109.07682" TargetMode="External"/><Relationship Id="rId1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508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八足机器人集群自主编队导航系统</a:t>
            </a:r>
            <a:endParaRPr sz="38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DEEBF7"/>
                </a:solidFill>
                <a:latin typeface="Microsoft YaHei"/>
                <a:ea typeface="Microsoft YaHei"/>
              </a:rPr>
              <a:t>技术方案汇报</a:t>
            </a:r>
            <a:endParaRPr sz="2200" b="0">
              <a:solidFill>
                <a:srgbClr val="DEEBF7"/>
              </a:solidFill>
              <a:latin typeface="Microsoft YaHei"/>
              <a:ea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目标：多台（N≥3）八足机器人在无全局地图、无中央节点的条件下，自主编队穿越障碍场地到达目标点</a:t>
            </a:r>
            <a:endParaRPr sz="15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4343400"/>
            <a:ext cx="2468880" cy="1417320"/>
          </a:xfrm>
          <a:prstGeom prst="roundRect">
            <a:avLst/>
          </a:prstGeom>
          <a:solidFill>
            <a:srgbClr val="2A5F8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无全局地图 · 有定位</a:t>
            </a:r>
            <a:endParaRPr sz="1300" b="1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DEEBF7"/>
                </a:solidFill>
                <a:latin typeface="Microsoft YaHei"/>
                <a:ea typeface="Microsoft YaHei"/>
              </a:rPr>
              <a:t>无需先验建图</a:t>
            </a:r>
            <a:endParaRPr sz="1100" b="0">
              <a:solidFill>
                <a:srgbClr val="DEEBF7"/>
              </a:solidFill>
              <a:latin typeface="Microsoft YaHei"/>
              <a:ea typeface="Microsoft YaHei"/>
            </a:endParaRP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DEEBF7"/>
                </a:solidFill>
                <a:latin typeface="Microsoft YaHei"/>
                <a:ea typeface="Microsoft YaHei"/>
              </a:rPr>
              <a:t>RTK 全队统一世界系</a:t>
            </a:r>
            <a:endParaRPr sz="1100" b="0">
              <a:solidFill>
                <a:srgbClr val="DEEBF7"/>
              </a:solidFill>
              <a:latin typeface="Microsoft YaHei"/>
              <a:ea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0440" y="4343400"/>
            <a:ext cx="2468880" cy="1417320"/>
          </a:xfrm>
          <a:prstGeom prst="roundRect">
            <a:avLst/>
          </a:prstGeom>
          <a:solidFill>
            <a:srgbClr val="2A5F8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自主编队</a:t>
            </a:r>
            <a:endParaRPr sz="1300" b="1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DEEBF7"/>
                </a:solidFill>
                <a:latin typeface="Microsoft YaHei"/>
                <a:ea typeface="Microsoft YaHei"/>
              </a:rPr>
              <a:t>槽位自主分配</a:t>
            </a:r>
            <a:endParaRPr sz="1100" b="0">
              <a:solidFill>
                <a:srgbClr val="DEEBF7"/>
              </a:solidFill>
              <a:latin typeface="Microsoft YaHei"/>
              <a:ea typeface="Microsoft YaHei"/>
            </a:endParaRP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DEEBF7"/>
                </a:solidFill>
                <a:latin typeface="Microsoft YaHei"/>
                <a:ea typeface="Microsoft YaHei"/>
              </a:rPr>
              <a:t>失效自主重构</a:t>
            </a:r>
            <a:endParaRPr sz="1100" b="0">
              <a:solidFill>
                <a:srgbClr val="DEEBF7"/>
              </a:solidFill>
              <a:latin typeface="Microsoft YaHei"/>
              <a:ea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4343400"/>
            <a:ext cx="2468880" cy="1417320"/>
          </a:xfrm>
          <a:prstGeom prst="roundRect">
            <a:avLst/>
          </a:prstGeom>
          <a:solidFill>
            <a:srgbClr val="2A5F8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完全分布式</a:t>
            </a:r>
            <a:endParaRPr sz="1300" b="1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DEEBF7"/>
                </a:solidFill>
                <a:latin typeface="Microsoft YaHei"/>
                <a:ea typeface="Microsoft YaHei"/>
              </a:rPr>
              <a:t>只交换几百字节</a:t>
            </a:r>
            <a:endParaRPr sz="1100" b="0">
              <a:solidFill>
                <a:srgbClr val="DEEBF7"/>
              </a:solidFill>
              <a:latin typeface="Microsoft YaHei"/>
              <a:ea typeface="Microsoft YaHei"/>
            </a:endParaRP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DEEBF7"/>
                </a:solidFill>
                <a:latin typeface="Microsoft YaHei"/>
                <a:ea typeface="Microsoft YaHei"/>
              </a:rPr>
              <a:t>轨迹承诺</a:t>
            </a:r>
            <a:endParaRPr sz="1100" b="0">
              <a:solidFill>
                <a:srgbClr val="DEEBF7"/>
              </a:solidFill>
              <a:latin typeface="Microsoft YaHei"/>
              <a:ea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15400" y="4343400"/>
            <a:ext cx="2468880" cy="1417320"/>
          </a:xfrm>
          <a:prstGeom prst="roundRect">
            <a:avLst/>
          </a:prstGeom>
          <a:solidFill>
            <a:srgbClr val="2A5F8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室外运行</a:t>
            </a:r>
            <a:endParaRPr sz="1300" b="1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DEEBF7"/>
                </a:solidFill>
                <a:latin typeface="Microsoft YaHei"/>
                <a:ea typeface="Microsoft YaHei"/>
              </a:rPr>
              <a:t>RTK 厘米级</a:t>
            </a:r>
            <a:endParaRPr sz="1100" b="0">
              <a:solidFill>
                <a:srgbClr val="DEEBF7"/>
              </a:solidFill>
              <a:latin typeface="Microsoft YaHei"/>
              <a:ea typeface="Microsoft YaHei"/>
            </a:endParaRP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DEEBF7"/>
                </a:solidFill>
                <a:latin typeface="Microsoft YaHei"/>
                <a:ea typeface="Microsoft YaHei"/>
              </a:rPr>
              <a:t>IP65 深度相机</a:t>
            </a:r>
            <a:endParaRPr sz="1100" b="0">
              <a:solidFill>
                <a:srgbClr val="DEEBF7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6172200"/>
            <a:ext cx="10515600" cy="20955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EEBF7"/>
                </a:solidFill>
                <a:latin typeface="Microsoft YaHei"/>
                <a:ea typeface="Microsoft YaHei"/>
              </a:rPr>
              <a:t>平台：Jetson Orin NX 16G · Ubuntu 24.04 · ROS 2 Jazzy · STM32 1kHz 关节伺服 · RTK 双天线 + IMU + 深度相机（90°×65°）    2026-10-21</a:t>
            </a:r>
            <a:endParaRPr sz="1200" b="0">
              <a:solidFill>
                <a:srgbClr val="DEEBF7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系统总览：输入与输出</a:t>
            </a:r>
            <a:endParaRPr sz="25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30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2/6</a:t>
            </a:r>
            <a:endParaRPr sz="1000" b="0">
              <a:solidFill>
                <a:srgbClr val="595959"/>
              </a:solidFill>
              <a:latin typeface="Microsoft YaHei"/>
              <a:ea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108356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</a:rPr>
              <a:t>系统唯一用户指令 = 一个目标坐标，其余全部自主</a:t>
            </a:r>
            <a:endParaRPr sz="1400" b="1">
              <a:solidFill>
                <a:srgbClr val="C00000"/>
              </a:solidFill>
              <a:latin typeface="Microsoft YaHei"/>
              <a:ea typeface="Microsoft Ya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200400" cy="42062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2E75B6"/>
                </a:solidFill>
                <a:latin typeface="Microsoft YaHei"/>
                <a:ea typeface="Microsoft YaHei"/>
              </a:rPr>
              <a:t>输入（外部接口 6 项）</a:t>
            </a:r>
            <a:endParaRPr sz="1500" b="1">
              <a:solidFill>
                <a:srgbClr val="2E75B6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</a:rPr>
              <a:t>① 目标点（编队中心坐标）</a:t>
            </a:r>
            <a:endParaRPr sz="1250" b="1">
              <a:solidFill>
                <a:srgbClr val="C00000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</a:rPr>
              <a:t>② NTRIP 差分流</a:t>
            </a:r>
            <a:endParaRPr sz="1250" b="0">
              <a:solidFill>
                <a:srgbClr val="262626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</a:rPr>
              <a:t>③ GNSS 双天线观测</a:t>
            </a:r>
            <a:endParaRPr sz="1250" b="0">
              <a:solidFill>
                <a:srgbClr val="262626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</a:rPr>
              <a:t>④ PPS 授时</a:t>
            </a:r>
            <a:endParaRPr sz="1250" b="0">
              <a:solidFill>
                <a:srgbClr val="262626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</a:rPr>
              <a:t>⑤ WiFi 网络</a:t>
            </a:r>
            <a:endParaRPr sz="1250" b="0">
              <a:solidFill>
                <a:srgbClr val="262626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</a:rPr>
              <a:t>⑥ 电源/起停</a:t>
            </a:r>
            <a:endParaRPr sz="1250" b="0">
              <a:solidFill>
                <a:srgbClr val="262626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0"/>
              </a:spcAft>
            </a:pPr>
            <a:endParaRPr sz="1250" b="0">
              <a:solidFill>
                <a:srgbClr val="262626"/>
              </a:solidFill>
              <a:latin typeface="Microsoft YaHei"/>
              <a:ea typeface="Microsoft YaHei"/>
            </a:endParaRPr>
          </a:p>
          <a:p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※ 机载传感（IMU、深度相机、关节反馈）为内部闭环，不属外部接口，见下页分层架构</a:t>
            </a:r>
            <a:endParaRPr sz="1000" b="0">
              <a:solidFill>
                <a:srgbClr val="595959"/>
              </a:solidFill>
              <a:latin typeface="Microsoft YaHei"/>
              <a:ea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183879" y="1554480"/>
            <a:ext cx="3200400" cy="4206240"/>
          </a:xfrm>
          <a:prstGeom prst="roundRect">
            <a:avLst/>
          </a:prstGeom>
          <a:solidFill>
            <a:srgbClr val="F2F9F3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t"/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548235"/>
                </a:solidFill>
                <a:latin typeface="Microsoft YaHei"/>
                <a:ea typeface="Microsoft YaHei"/>
              </a:rPr>
              <a:t>输出（4 项）</a:t>
            </a:r>
            <a:endParaRPr sz="1500" b="1">
              <a:solidFill>
                <a:srgbClr val="548235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262626"/>
                </a:solidFill>
                <a:latin typeface="Microsoft YaHei"/>
                <a:ea typeface="Microsoft YaHei"/>
              </a:rPr>
              <a:t>① 机器人运动（24 关节）</a:t>
            </a:r>
            <a:endParaRPr sz="1250" b="1">
              <a:solidFill>
                <a:srgbClr val="262626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</a:rPr>
              <a:t>② 到达信号 finish</a:t>
            </a:r>
            <a:endParaRPr sz="1250" b="0">
              <a:solidFill>
                <a:srgbClr val="262626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</a:rPr>
              <a:t>③ 监控流（地图/轨迹/状态）</a:t>
            </a:r>
            <a:endParaRPr sz="1250" b="0">
              <a:solidFill>
                <a:srgbClr val="262626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262626"/>
                </a:solidFill>
                <a:latin typeface="Microsoft YaHei"/>
                <a:ea typeface="Microsoft YaHei"/>
              </a:rPr>
              <a:t>④ 急停与告警事件</a:t>
            </a:r>
            <a:endParaRPr sz="12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200400" cy="3749039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分布式编队导航系统</a:t>
            </a:r>
            <a:endParaRPr sz="1600" b="1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ctr">
              <a:spcAft>
                <a:spcPts val="1200"/>
              </a:spcAft>
            </a:pPr>
            <a:r>
              <a:rPr sz="1200" b="0">
                <a:solidFill>
                  <a:srgbClr val="DEEBF7"/>
                </a:solidFill>
                <a:latin typeface="Microsoft YaHei"/>
                <a:ea typeface="Microsoft YaHei"/>
              </a:rPr>
              <a:t>（N 台对等，无中控）</a:t>
            </a:r>
            <a:endParaRPr sz="1200" b="0">
              <a:solidFill>
                <a:srgbClr val="DEEBF7"/>
              </a:solidFill>
              <a:latin typeface="Microsoft YaHei"/>
              <a:ea typeface="Microsoft YaHei"/>
            </a:endParaRPr>
          </a:p>
          <a:p>
            <a:pPr algn="ctr"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每机自治闭环</a:t>
            </a:r>
            <a:endParaRPr sz="1250" b="1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ctr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定位  RTK+IMU 融合  50Hz</a:t>
            </a:r>
            <a:endParaRPr sz="1150" b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ctr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感知  滑窗局部地图</a:t>
            </a:r>
            <a:endParaRPr sz="1150" b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ctr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规划  滚动轨迹优化 1s</a:t>
            </a:r>
            <a:endParaRPr sz="1150" b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ctr"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执行  步态控制 200Hz</a:t>
            </a:r>
            <a:endParaRPr sz="1150" b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ctr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通信  UDP 轨迹广播+心跳</a:t>
            </a:r>
            <a:endParaRPr sz="115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977639" y="3383280"/>
            <a:ext cx="411480" cy="45720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726679" y="3383280"/>
            <a:ext cx="411480" cy="45720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5943600"/>
            <a:ext cx="10835640" cy="54864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时序契约：目标→新轨迹 ≤1.5s ｜ 重规划周期 1.0s ｜ 跨机时钟校验 ≤250ms ｜ 心跳离队判定 3s</a:t>
            </a:r>
            <a:endParaRPr sz="1200" b="1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软件总体架构：七层分层</a:t>
            </a:r>
            <a:endParaRPr sz="25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30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3/6</a:t>
            </a:r>
            <a:endParaRPr sz="1000" b="0">
              <a:solidFill>
                <a:srgbClr val="595959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115568"/>
            <a:ext cx="2651760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任务层</a:t>
            </a:r>
            <a:endParaRPr sz="13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29000" y="1115568"/>
            <a:ext cx="6400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目标点 I/O · 到达/急停事件上报</a:t>
            </a:r>
            <a:endParaRPr sz="11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1773936"/>
            <a:ext cx="2651760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决策层  ego_planner（大脑）</a:t>
            </a:r>
            <a:endParaRPr sz="13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29000" y="1773936"/>
            <a:ext cx="6400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FSM(100Hz) · 自主编队（槽位分配/失效重构/谱保持） · 滚动轨迹优化 MINCO+L-BFGS · 安全检查(20Hz)</a:t>
            </a:r>
            <a:endParaRPr sz="11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" y="2432304"/>
            <a:ext cx="2651760" cy="566928"/>
          </a:xfrm>
          <a:prstGeom prst="rect">
            <a:avLst/>
          </a:prstGeom>
          <a:solidFill>
            <a:srgbClr val="749BC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感知定位层</a:t>
            </a:r>
            <a:endParaRPr sz="13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29000" y="2432304"/>
            <a:ext cx="6400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cloud_transformer · GridMap（占据/ESDF） · EKF 融合 · 定位门控</a:t>
            </a:r>
            <a:endParaRPr sz="11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" y="3090672"/>
            <a:ext cx="2651760" cy="566928"/>
          </a:xfrm>
          <a:prstGeom prst="rect">
            <a:avLst/>
          </a:prstGeom>
          <a:solidFill>
            <a:srgbClr val="548235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执行层</a:t>
            </a:r>
            <a:endParaRPr sz="13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29000" y="3090672"/>
            <a:ext cx="6400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traj_server(100Hz) · cmd_adapter(50Hz) · gait_controller(200Hz)</a:t>
            </a:r>
            <a:endParaRPr sz="11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3749039"/>
            <a:ext cx="2651760" cy="566928"/>
          </a:xfrm>
          <a:prstGeom prst="rect">
            <a:avLst/>
          </a:prstGeom>
          <a:solidFill>
            <a:srgbClr val="ED7D31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通信层</a:t>
            </a:r>
            <a:endParaRPr sz="13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29000" y="3749039"/>
            <a:ext cx="6400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swarm_bridge（UDP：轨迹广播 + 1Hz 位置心跳） · chrony 时钟</a:t>
            </a:r>
            <a:endParaRPr sz="11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5800" y="4407407"/>
            <a:ext cx="2651760" cy="566928"/>
          </a:xfrm>
          <a:prstGeom prst="rect">
            <a:avLst/>
          </a:prstGeom>
          <a:solidFill>
            <a:srgbClr val="595959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驱动层</a:t>
            </a:r>
            <a:endParaRPr sz="13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29000" y="4407407"/>
            <a:ext cx="6400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相机驱动 · RTK 驱动 · MCU 通信（CAN）</a:t>
            </a:r>
            <a:endParaRPr sz="11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5800" y="5065776"/>
            <a:ext cx="2651760" cy="566928"/>
          </a:xfrm>
          <a:prstGeom prst="rect">
            <a:avLst/>
          </a:prstGeom>
          <a:solidFill>
            <a:srgbClr val="8C8C8C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平台层</a:t>
            </a:r>
            <a:endParaRPr sz="135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429000" y="5065776"/>
            <a:ext cx="6400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Linux / ROS 2 Jazzy / STM32 固件（1kHz 关节伺服）</a:t>
            </a:r>
            <a:endParaRPr sz="11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5800" y="5897880"/>
            <a:ext cx="10835640" cy="6858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4E79"/>
                </a:solidFill>
                <a:latin typeface="Microsoft YaHei"/>
                <a:ea typeface="Microsoft YaHei"/>
              </a:rPr>
              <a:t>分层规则：只允许上层订阅下层，层间唯一耦合 = ROS 2 话题 → 定位/感知/执行任何一层可独立替换，接口不变</a:t>
            </a:r>
            <a:endParaRPr sz="1250" b="1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部署：每机 10 个进程（gait_controller 独占核 + SCHED_FIFO 实时调度）</a:t>
            </a:r>
            <a:endParaRPr sz="11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核心技术：自主编队与关键设计</a:t>
            </a:r>
            <a:endParaRPr sz="25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30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4/6</a:t>
            </a:r>
            <a:endParaRPr sz="1000" b="0">
              <a:solidFill>
                <a:srgbClr val="595959"/>
              </a:solidFill>
              <a:latin typeface="Microsoft YaHei"/>
              <a:ea typeface="Microsoft YaHei"/>
            </a:endParaRPr>
          </a:p>
        </p:txBody>
      </p:sp>
      <p:sp>
        <p:nvSpPr>
          <p:cNvPr id="6" name="Oval 5"/>
          <p:cNvSpPr/>
          <p:nvPr/>
        </p:nvSpPr>
        <p:spPr>
          <a:xfrm>
            <a:off x="1536192" y="2999232"/>
            <a:ext cx="493776" cy="49377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0</a:t>
            </a:r>
            <a:endParaRPr sz="13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7" name="Oval 6"/>
          <p:cNvSpPr/>
          <p:nvPr/>
        </p:nvSpPr>
        <p:spPr>
          <a:xfrm>
            <a:off x="1536192" y="2130551"/>
            <a:ext cx="493776" cy="49377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 sz="13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Oval 7"/>
          <p:cNvSpPr/>
          <p:nvPr/>
        </p:nvSpPr>
        <p:spPr>
          <a:xfrm>
            <a:off x="783893" y="2564891"/>
            <a:ext cx="493776" cy="49377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 sz="13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9" name="Oval 8"/>
          <p:cNvSpPr/>
          <p:nvPr/>
        </p:nvSpPr>
        <p:spPr>
          <a:xfrm>
            <a:off x="783893" y="3433572"/>
            <a:ext cx="493776" cy="49377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 sz="13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536191" y="3867912"/>
            <a:ext cx="493776" cy="49377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 sz="13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288490" y="3433572"/>
            <a:ext cx="493776" cy="49377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 sz="13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2288490" y="2564891"/>
            <a:ext cx="493776" cy="49377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 sz="13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1051560"/>
            <a:ext cx="237744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</a:rPr>
              <a:t>队形示例 N=7
中心+正(N−1)边形（边长4m）</a:t>
            </a:r>
            <a:endParaRPr sz="1100" b="1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5800" y="4736465"/>
            <a:ext cx="2377440" cy="105156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模板参数化</a:t>
            </a:r>
            <a:endParaRPr sz="1200" b="1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中心+正(N−1)边形，成员数变化自动收缩</a:t>
            </a:r>
            <a:endParaRPr sz="10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246120" y="1097280"/>
            <a:ext cx="4343400" cy="15544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F4E79"/>
                </a:solidFill>
                <a:latin typeface="Microsoft YaHei"/>
                <a:ea typeface="Microsoft YaHei"/>
              </a:rPr>
              <a:t>① 槽位自主分配（成队）</a:t>
            </a:r>
            <a:endParaRPr sz="1350" b="1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匈牙利算法全局最优指派；各机独立计算、结果必然一致——相同数据+相同算法+确定性同分裁决，零协商零中控</a:t>
            </a:r>
            <a:endParaRPr sz="11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246120" y="2788920"/>
            <a:ext cx="4343400" cy="15544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F4E79"/>
                </a:solidFill>
                <a:latin typeface="Microsoft YaHei"/>
                <a:ea typeface="Microsoft YaHei"/>
              </a:rPr>
              <a:t>② 失效自主重构（鲁棒）</a:t>
            </a:r>
            <a:endParaRPr sz="1350" b="1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1Hz 心跳，3s 未见一致判定离队 → 模板自动收缩（N→N−1，如 7→6 五边形）+ 重新指派，5s 内收敛</a:t>
            </a:r>
            <a:endParaRPr sz="11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246120" y="4480560"/>
            <a:ext cx="4343400" cy="155448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1F4E79"/>
                </a:solidFill>
                <a:latin typeface="Microsoft YaHei"/>
                <a:ea typeface="Microsoft YaHei"/>
              </a:rPr>
              <a:t>③ 行进队形保持（核心算法）</a:t>
            </a:r>
            <a:endParaRPr sz="1350" b="1">
              <a:solidFill>
                <a:srgbClr val="1F4E79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拉普拉斯谱相似性软约束：平移旋转不变——队形可转向绕障；窄道压扁、通过后自动恢复</a:t>
            </a:r>
            <a:endParaRPr sz="11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72400" y="1097280"/>
            <a:ext cx="3749039" cy="155448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定位：RTK双天线+IMU → 门控三闸 → EKF</a:t>
            </a:r>
            <a:endParaRPr sz="1250" b="1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</a:rPr>
              <a:t>全队统一世界系（单层，无多层TF）｜仅 Fix 解放行，跳变拒收→冻结急停 ｜ 50Hz，延迟≤300ms</a:t>
            </a:r>
            <a:endParaRPr sz="1050" b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0"/>
              </a:spcAft>
            </a:pPr>
            <a:endParaRPr sz="1050" b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r>
              <a:rPr sz="1000" b="1">
                <a:solidFill>
                  <a:srgbClr val="1F4E79"/>
                </a:solidFill>
                <a:latin typeface="Microsoft YaHei"/>
                <a:ea typeface="Microsoft YaHei"/>
              </a:rPr>
              <a:t>预留：腿式里程计入 EKF（RTK 树冠降级桥接，P2 可选）</a:t>
            </a:r>
            <a:endParaRPr sz="1050" b="1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72400" y="2788920"/>
            <a:ext cx="3749039" cy="1554480"/>
          </a:xfrm>
          <a:prstGeom prst="roundRect">
            <a:avLst/>
          </a:prstGeom>
          <a:solidFill>
            <a:srgbClr val="548235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感知规划：滑窗地图+滚动优化</a:t>
            </a:r>
            <a:endParaRPr sz="1250" b="1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</a:rPr>
              <a:t>地面点滤波 z&lt;0.10m（贴地必须）｜ 三层地图：占据→膨胀0.3m→ESDF ｜ 规划视野 7.5m = 1.5×感知半径 5m</a:t>
            </a:r>
            <a:endParaRPr sz="105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0" y="4480560"/>
            <a:ext cx="3749039" cy="1554480"/>
          </a:xfrm>
          <a:prstGeom prst="roundRect">
            <a:avLst/>
          </a:prstGeom>
          <a:solidFill>
            <a:srgbClr val="ED7D31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执行：轨迹→步态→关节 1kHz</a:t>
            </a:r>
            <a:endParaRPr sz="1250" b="1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</a:rPr>
              <a:t>100Hz 采样 → 50Hz 位置环+前馈 → 200Hz 波步态（≥6足静态稳定）→ MCU 1kHz ｜ 跟踪滞后 τ≈0.5s → 机间安全距离 1.2m（定量依据）</a:t>
            </a:r>
            <a:endParaRPr sz="1050" b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风险对策与实施计划（10.21 — 1.11）</a:t>
            </a:r>
            <a:endParaRPr sz="25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330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777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5/6</a:t>
            </a:r>
            <a:endParaRPr sz="1000" b="0">
              <a:solidFill>
                <a:srgbClr val="595959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539496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Microsoft YaHei"/>
                <a:ea typeface="Microsoft YaHei"/>
              </a:rPr>
              <a:t>风险与对策（Top 5）</a:t>
            </a:r>
            <a:endParaRPr sz="1400" b="1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394960" cy="822960"/>
          </a:xfrm>
          <a:prstGeom prst="roundRect">
            <a:avLst/>
          </a:prstGeom>
          <a:solidFill>
            <a:srgbClr val="FDF3F3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RTK 解跳变（高）  →  门控三闸：仅 Fix 放行 + 跳变拒收 + 连续 5 帧冻结急停——杜绝跳变传染全队</a:t>
            </a:r>
            <a:endParaRPr sz="10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2587752"/>
            <a:ext cx="5394960" cy="822960"/>
          </a:xfrm>
          <a:prstGeom prst="roundRect">
            <a:avLst/>
          </a:prstGeom>
          <a:solidFill>
            <a:srgbClr val="FDF3F3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足式跟踪滞后 τ≈0.5s（高）  →  安全距离 1.2m 吸收外推偏差 + 限速 0.8m/s；仿真注入滞后模型提前验证</a:t>
            </a:r>
            <a:endParaRPr sz="10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3483864"/>
            <a:ext cx="5394960" cy="822960"/>
          </a:xfrm>
          <a:prstGeom prst="roundRect">
            <a:avLst/>
          </a:prstGeom>
          <a:solidFill>
            <a:srgbClr val="FDF3F3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地面点污染地图（高）  →  点云地面滤波 z&lt;0.10m 剔除——贴地平台必须项</a:t>
            </a:r>
            <a:endParaRPr sz="10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4379976"/>
            <a:ext cx="5394960" cy="822960"/>
          </a:xfrm>
          <a:prstGeom prst="roundRect">
            <a:avLst/>
          </a:prstGeom>
          <a:solidFill>
            <a:srgbClr val="FEF8EF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前向单目盲区（中）  →  转向自动限速联动；可加侧向相机</a:t>
            </a:r>
            <a:endParaRPr sz="10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5276088"/>
            <a:ext cx="5394960" cy="822960"/>
          </a:xfrm>
          <a:prstGeom prst="roundRect">
            <a:avLst/>
          </a:prstGeom>
          <a:solidFill>
            <a:srgbClr val="FEF8EF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WiFi/DDS 不稳定（中）  →  机间协同走 UDP（丢包容错内建）；DDS 单播发现</a:t>
            </a:r>
            <a:endParaRPr sz="10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55080" y="1143000"/>
            <a:ext cx="516636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实施计划</a:t>
            </a:r>
            <a:endParaRPr sz="14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55080" y="1691640"/>
            <a:ext cx="5166360" cy="676656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Microsoft YaHei"/>
                <a:ea typeface="Microsoft YaHei"/>
              </a:rPr>
              <a:t>P1 10.21–10.31   </a:t>
            </a:r>
            <a:endParaRPr sz="1100" b="1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92440" y="1691640"/>
            <a:ext cx="3383280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仿真平台搭建，多机数字仿真全绿</a:t>
            </a:r>
            <a:endParaRPr sz="10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55080" y="2441448"/>
            <a:ext cx="5166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Microsoft YaHei"/>
                <a:ea typeface="Microsoft YaHei"/>
              </a:rPr>
              <a:t>P2 11.01–11.14   </a:t>
            </a:r>
            <a:endParaRPr sz="1100" b="1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92440" y="2441448"/>
            <a:ext cx="3383280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定位链集成（RTK+EKF+门控）+ 单机精度报告；可选：腿式里程计入 EKF</a:t>
            </a:r>
            <a:endParaRPr sz="10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55080" y="3191256"/>
            <a:ext cx="5166360" cy="676656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Microsoft YaHei"/>
                <a:ea typeface="Microsoft YaHei"/>
              </a:rPr>
              <a:t>P3 11.15–12.05   </a:t>
            </a:r>
            <a:endParaRPr sz="1100" b="1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92440" y="3191256"/>
            <a:ext cx="3383280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步态控制器（仿真→台架→实物）+ 指令适配层</a:t>
            </a:r>
            <a:endParaRPr sz="10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55080" y="3941064"/>
            <a:ext cx="5166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Microsoft YaHei"/>
                <a:ea typeface="Microsoft YaHei"/>
              </a:rPr>
              <a:t>P4 12.06–12.19   </a:t>
            </a:r>
            <a:endParaRPr sz="1100" b="1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92440" y="3941064"/>
            <a:ext cx="3383280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单机全链闭环：感知+规划+执行自主避障</a:t>
            </a:r>
            <a:endParaRPr sz="10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55080" y="4690872"/>
            <a:ext cx="5166360" cy="676656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Microsoft YaHei"/>
                <a:ea typeface="Microsoft YaHei"/>
              </a:rPr>
              <a:t>P5 12.20–12.31   </a:t>
            </a:r>
            <a:endParaRPr sz="1100" b="1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92440" y="4690872"/>
            <a:ext cx="3383280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多机互避 + 通信/时间同步联调</a:t>
            </a:r>
            <a:endParaRPr sz="10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355080" y="5440679"/>
            <a:ext cx="5166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Microsoft YaHei"/>
                <a:ea typeface="Microsoft YaHei"/>
              </a:rPr>
              <a:t>P6 01.01–01.11   </a:t>
            </a:r>
            <a:endParaRPr sz="1100" b="1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92440" y="5440679"/>
            <a:ext cx="3383280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多机自主编队现场验收（含失效重构）+ 交付文档</a:t>
            </a:r>
            <a:endParaRPr sz="105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85800" y="6126480"/>
            <a:ext cx="10835640" cy="5029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4E79"/>
                </a:solidFill>
                <a:latin typeface="Microsoft YaHei"/>
                <a:ea typeface="Microsoft YaHei"/>
              </a:rPr>
              <a:t>验证三级递进：数字仿真（注入误差/滞后，零硬件成本）→ 单机台架 → 现场验收 ｜ 指标：成队到达率 100% · 分配零分歧 · 重构 ≤5s · 全程无碰撞</a:t>
            </a:r>
            <a:endParaRPr sz="1150" b="1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</a:rPr>
              <a:t>参考资料：论文 · 效果 · 视频 · 代码</a:t>
            </a:r>
            <a:endParaRPr sz="2500" b="1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6/6</a:t>
            </a:r>
            <a:endParaRPr sz="1000" b="0">
              <a:solidFill>
                <a:srgbClr val="595959"/>
              </a:solidFill>
              <a:latin typeface="Microsoft YaHei"/>
              <a:ea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5120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1F4E79"/>
                </a:solidFill>
                <a:latin typeface="Microsoft YaHei"/>
                <a:ea typeface="Microsoft YaHei"/>
              </a:rPr>
              <a:t>仿真效果（参考实现 · 放映时 GIF 自动播放）</a:t>
            </a:r>
            <a:endParaRPr sz="1300" b="1">
              <a:solidFill>
                <a:srgbClr val="1F4E79"/>
              </a:solidFill>
              <a:latin typeface="Microsoft YaHei"/>
              <a:ea typeface="Microsoft YaHei"/>
            </a:endParaRPr>
          </a:p>
        </p:txBody>
      </p:sp>
      <p:pic>
        <p:nvPicPr>
          <p:cNvPr id="6" name="Picture 5" descr="normal_hexagon_2.gi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5120640" cy="29699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526280"/>
            <a:ext cx="5120640" cy="2527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</a:rPr>
              <a:t>7 机正六边形编队穿越随机森林</a:t>
            </a:r>
            <a:endParaRPr sz="1050" b="0">
              <a:solidFill>
                <a:srgbClr val="595959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88920" y="52120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1F4E79"/>
                </a:solidFill>
                <a:latin typeface="Microsoft YaHei"/>
                <a:ea typeface="Microsoft YaHei"/>
              </a:rPr>
              <a:t>参考论文首页（中英双语版）</a:t>
            </a:r>
            <a:endParaRPr sz="1050" b="1">
              <a:solidFill>
                <a:srgbClr val="1F4E79"/>
              </a:solidFill>
              <a:latin typeface="Microsoft YaHei"/>
              <a:ea typeface="Microsoft YaHei"/>
            </a:endParaRPr>
          </a:p>
          <a:p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</a:rPr>
              <a:t>完整 PDF 存档于仓库 docs/paper/quan2021distributed.pdf</a:t>
            </a:r>
            <a:endParaRPr sz="1000" b="0">
              <a:solidFill>
                <a:srgbClr val="262626"/>
              </a:solidFill>
              <a:latin typeface="Microsoft YaHei"/>
              <a:ea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26480" y="1417320"/>
            <a:ext cx="5303520" cy="169164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E75B6"/>
                </a:solidFill>
                <a:latin typeface="Microsoft YaHei"/>
                <a:ea typeface="Microsoft YaHei"/>
              </a:rPr>
              <a:t>① 参考论文（ICRA 2022）</a:t>
            </a:r>
            <a:endParaRPr sz="1500" b="1">
              <a:solidFill>
                <a:srgbClr val="2E75B6"/>
              </a:solidFill>
              <a:latin typeface="Microsoft YaHei"/>
              <a:ea typeface="Microsoft YaHei"/>
            </a:endParaRPr>
          </a:p>
          <a:p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Distributed Swarm Trajectory Optimization for Formation Flight in Dense Environments —— Quan · Yin · Xu · Gao（浙大 FAST-Lab）</a:t>
            </a:r>
            <a:endParaRPr sz="1100" b="0">
              <a:solidFill>
                <a:srgbClr val="262626"/>
              </a:solidFill>
              <a:latin typeface="Microsoft YaHei"/>
              <a:ea typeface="Microsoft YaHei"/>
            </a:endParaRPr>
          </a:p>
          <a:p>
            <a:r>
              <a:rPr sz="1100" b="1">
                <a:solidFill>
                  <a:srgbClr val="0563C1"/>
                </a:solidFill>
                <a:latin typeface="Microsoft YaHei"/>
                <a:ea typeface="Microsoft YaHei"/>
                <a:hlinkClick r:id="rId2"/>
              </a:rPr>
              <a:t>arXiv:2109.07682（点击打开）</a:t>
            </a:r>
            <a:endParaRPr sz="1100" b="1">
              <a:solidFill>
                <a:srgbClr val="0563C1"/>
              </a:solidFill>
              <a:latin typeface="Microsoft YaHei"/>
              <a:ea typeface="Microsoft YaHei"/>
              <a:hlinkClick r:id="rId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26480" y="3246120"/>
            <a:ext cx="5303520" cy="11430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E75B6"/>
                </a:solidFill>
                <a:latin typeface="Microsoft YaHei"/>
                <a:ea typeface="Microsoft YaHei"/>
              </a:rPr>
              <a:t>② 演示视频（哔哩哔哩）</a:t>
            </a:r>
            <a:endParaRPr sz="1500" b="1">
              <a:solidFill>
                <a:srgbClr val="2E75B6"/>
              </a:solidFill>
              <a:latin typeface="Microsoft YaHei"/>
              <a:ea typeface="Microsoft YaHei"/>
            </a:endParaRPr>
          </a:p>
          <a:p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Swarm-Formation 多机编队避障飞行演示</a:t>
            </a:r>
            <a:endParaRPr sz="1100" b="0">
              <a:solidFill>
                <a:srgbClr val="262626"/>
              </a:solidFill>
              <a:latin typeface="Microsoft YaHei"/>
              <a:ea typeface="Microsoft YaHei"/>
            </a:endParaRPr>
          </a:p>
          <a:p>
            <a:r>
              <a:rPr sz="1100" b="1">
                <a:solidFill>
                  <a:srgbClr val="0563C1"/>
                </a:solidFill>
                <a:latin typeface="Microsoft YaHei"/>
                <a:ea typeface="Microsoft YaHei"/>
                <a:hlinkClick r:id="rId3"/>
              </a:rPr>
              <a:t>BV1qv41137Si（点击打开）</a:t>
            </a:r>
            <a:endParaRPr sz="1100" b="1">
              <a:solidFill>
                <a:srgbClr val="0563C1"/>
              </a:solidFill>
              <a:latin typeface="Microsoft YaHei"/>
              <a:ea typeface="Microsoft YaHei"/>
              <a:hlinkClick r:id="rId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26480" y="4526280"/>
            <a:ext cx="5303520" cy="11430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E75B6"/>
                </a:solidFill>
                <a:latin typeface="Microsoft YaHei"/>
                <a:ea typeface="Microsoft YaHei"/>
              </a:rPr>
              <a:t>③ 开源代码（GitHub）</a:t>
            </a:r>
            <a:endParaRPr sz="1500" b="1">
              <a:solidFill>
                <a:srgbClr val="2E75B6"/>
              </a:solidFill>
              <a:latin typeface="Microsoft YaHei"/>
              <a:ea typeface="Microsoft YaHei"/>
            </a:endParaRPr>
          </a:p>
          <a:p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ZJU-FAST-Lab/Swarm-Formation —— 本方案参考实现，已移植 ROS 2 Humble</a:t>
            </a:r>
            <a:endParaRPr sz="1100" b="0">
              <a:solidFill>
                <a:srgbClr val="262626"/>
              </a:solidFill>
              <a:latin typeface="Microsoft YaHei"/>
              <a:ea typeface="Microsoft YaHei"/>
            </a:endParaRPr>
          </a:p>
          <a:p>
            <a:r>
              <a:rPr sz="1100" b="1">
                <a:solidFill>
                  <a:srgbClr val="0563C1"/>
                </a:solidFill>
                <a:latin typeface="Microsoft YaHei"/>
                <a:ea typeface="Microsoft YaHei"/>
                <a:hlinkClick r:id="rId4"/>
              </a:rPr>
              <a:t>github.com/ZJU-FAST-Lab/Swarm-Formation（点击打开）</a:t>
            </a:r>
            <a:endParaRPr sz="1100" b="1">
              <a:solidFill>
                <a:srgbClr val="0563C1"/>
              </a:solidFill>
              <a:latin typeface="Microsoft YaHei"/>
              <a:ea typeface="Microsoft YaHei"/>
              <a:hlinkClick r:id="rId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0" y="580644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</a:rPr>
              <a:t>本方案的拉普拉斯谱保持编队、MINCO 滚动轨迹优化、UDP 轨迹广播等核心设计均源于上述论文与开源代码。</a:t>
            </a:r>
            <a:endParaRPr sz="950" b="0">
              <a:solidFill>
                <a:srgbClr val="595959"/>
              </a:solidFill>
              <a:latin typeface="Microsoft YaHei"/>
              <a:ea typeface="Microsoft YaHei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074920"/>
            <a:ext cx="1874519" cy="12129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2761</Words>
  <Application>WPS 演示</Application>
  <PresentationFormat>On-screen Show (4:3)</PresentationFormat>
  <Paragraphs>204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SimSun</vt:lpstr>
      <vt:lpstr>Wingdings</vt:lpstr>
      <vt:lpstr>Arial</vt:lpstr>
      <vt:lpstr>Nimbus Roman No9 L</vt:lpstr>
      <vt:lpstr>Microsoft YaHei</vt:lpstr>
      <vt:lpstr>Droid Sans Fallback</vt:lpstr>
      <vt:lpstr>Calibri</vt:lpstr>
      <vt:lpstr>DejaVu Sans</vt:lpstr>
      <vt:lpstr>AR PL UKai CN</vt:lpstr>
      <vt:lpstr>Microsoft YaHei</vt:lpstr>
      <vt:lpstr>Arial Unicode MS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legion</cp:lastModifiedBy>
  <cp:revision>5</cp:revision>
  <dcterms:created xsi:type="dcterms:W3CDTF">2026-10-22T03:12:49Z</dcterms:created>
  <dcterms:modified xsi:type="dcterms:W3CDTF">2026-10-22T03:12:49Z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319688E8C0160D92FCB2D86A39FA67DA_42</vt:lpwstr>
  </property>
  <property fmtid="{D5CDD505-2E9C-101B-9397-08002B2CF9AE}" pid="3" name="KSOProductBuildVer">
    <vt:lpwstr>1033-12.1.0.17900</vt:lpwstr>
  </property>
</Properties>
</file>